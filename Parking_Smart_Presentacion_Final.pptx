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8912"/>
            <a:ext cx="896112" cy="793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648" y="60350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 i="0" spc="180">
                <a:solidFill>
                  <a:srgbClr val="22D3EE"/>
                </a:solidFill>
                <a:latin typeface="Segoe UI"/>
              </a:rPr>
              <a:t>INFRAESTRUCTURA TI  ·  SOLEMNE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80" b="0" i="0" spc="140">
                <a:solidFill>
                  <a:srgbClr val="9CAECB"/>
                </a:solidFill>
                <a:latin typeface="Segoe UI"/>
              </a:rPr>
              <a:t>28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6583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6200" b="1" i="0">
                <a:solidFill>
                  <a:srgbClr val="F2F7FF"/>
                </a:solidFill>
                <a:latin typeface="Bahnschrift"/>
              </a:rPr>
              <a:t>Parking </a:t>
            </a:r>
            <a:r>
              <a:rPr sz="6200" b="1" i="0">
                <a:solidFill>
                  <a:srgbClr val="22D3EE"/>
                </a:solidFill>
                <a:latin typeface="Bahnschrift"/>
              </a:rPr>
              <a:t>Smart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24912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9CAECB"/>
                </a:solidFill>
                <a:latin typeface="Segoe UI"/>
              </a:rPr>
              <a:t>Monitoreo IoT de estacionamientos con Raspberry Pi 4, microservicios MQTT y una plataforma web en la nube.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777240" cy="274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4073652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023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2F7FF"/>
                </a:solidFill>
                <a:latin typeface="Segoe UI"/>
              </a:rPr>
              <a:t>PIR HC-SR501  +  Raspberry Pi 4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375404"/>
            <a:ext cx="68580" cy="685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3251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2F7FF"/>
                </a:solidFill>
                <a:latin typeface="Segoe UI"/>
              </a:rPr>
              <a:t>4 contenedores Docker  ·  MQTT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677156"/>
            <a:ext cx="68580" cy="685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2686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2F7FF"/>
                </a:solidFill>
                <a:latin typeface="Segoe UI"/>
              </a:rPr>
              <a:t>Firestore  +  Vercel  ·  capa gratuita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60">
                <a:solidFill>
                  <a:srgbClr val="6C7F9D"/>
                </a:solidFill>
                <a:latin typeface="Segoe UI"/>
              </a:rPr>
              <a:t>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04688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9CAECB"/>
                </a:solidFill>
                <a:latin typeface="Segoe UI"/>
              </a:rPr>
              <a:t>Luis Bahamonde  ·  Jorge Castillo  ·  Anaís Tuteleers  ·  Christopher Torrejón  ·  Maira Brante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33872"/>
            <a:ext cx="6446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NRC 8571  ·  Prof. Luis Delgado Ayala  ·  Universidad Andrés Bello</a:t>
            </a:r>
          </a:p>
        </p:txBody>
      </p:sp>
      <p:pic>
        <p:nvPicPr>
          <p:cNvPr id="18" name="Picture 17" descr="hw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47088"/>
            <a:ext cx="4846320" cy="21189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48272" y="160934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50">
                <a:solidFill>
                  <a:srgbClr val="34D399"/>
                </a:solidFill>
                <a:latin typeface="Segoe UI"/>
              </a:rPr>
              <a:t>PROTOTIPO EN OPERACIÓN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05993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6C7F9D"/>
                </a:solidFill>
                <a:latin typeface="Segoe UI"/>
              </a:rPr>
              <a:t>Raspberry Pi 4  ·  PIR HC-SR501  ·  GPIO17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370832"/>
            <a:ext cx="2359152" cy="1188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498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22D3EE"/>
                </a:solidFill>
                <a:latin typeface="Bahnschrift"/>
              </a:rPr>
              <a:t>23.728</a:t>
            </a:r>
            <a:r>
              <a:rPr sz="850" b="1" i="0">
                <a:solidFill>
                  <a:srgbClr val="6C7F9D"/>
                </a:solidFill>
                <a:latin typeface="Segoe UI"/>
              </a:rPr>
              <a:t>  eventos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983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9CAECB"/>
                </a:solidFill>
                <a:latin typeface="Segoe UI"/>
              </a:rPr>
              <a:t>registrados en SQLite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4370832"/>
            <a:ext cx="2359152" cy="1188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498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34D399"/>
                </a:solidFill>
                <a:latin typeface="Bahnschrift"/>
              </a:rPr>
              <a:t>0</a:t>
            </a:r>
            <a:r>
              <a:rPr sz="850" b="1" i="0">
                <a:solidFill>
                  <a:srgbClr val="6C7F9D"/>
                </a:solidFill>
                <a:latin typeface="Segoe UI"/>
              </a:rPr>
              <a:t>  pendientes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983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9CAECB"/>
                </a:solidFill>
                <a:latin typeface="Segoe UI"/>
              </a:rPr>
              <a:t>en la cola local al momento de medir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585216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 i="0">
                <a:solidFill>
                  <a:srgbClr val="6C7F9D"/>
                </a:solidFill>
                <a:latin typeface="Segoe UI"/>
              </a:rPr>
              <a:t>Consulta /parking/sync-status  ·  28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PROBLEMA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Monitorear sin instalar un sensor por plaza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La cadena IoT completa se valida con un sensor físico y un simulador explícitamente separado.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3493008" cy="1188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65376"/>
            <a:ext cx="3456432" cy="31089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93392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34D399"/>
                </a:solidFill>
                <a:latin typeface="Bahnschrif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0482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2F7FF"/>
                </a:solidFill>
                <a:latin typeface="Segoe UI"/>
              </a:rPr>
              <a:t>sensor PIR HC-SR501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3408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CAECB"/>
                </a:solidFill>
                <a:latin typeface="Segoe UI"/>
              </a:rPr>
              <a:t>sobre GPIO17, en la Raspberry Pi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1847088"/>
            <a:ext cx="3493008" cy="1188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2543" y="1865376"/>
            <a:ext cx="3456432" cy="3108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3" y="1993392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A78BFA"/>
                </a:solidFill>
                <a:latin typeface="Bahnschrift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3" y="20482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2F7FF"/>
                </a:solidFill>
                <a:latin typeface="Segoe UI"/>
              </a:rPr>
              <a:t>plazas simuladas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23408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CAECB"/>
                </a:solidFill>
                <a:latin typeface="Segoe UI"/>
              </a:rPr>
              <a:t>P01–P08, con estado y distancia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847088"/>
            <a:ext cx="3493008" cy="1188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1" y="1865376"/>
            <a:ext cx="3456432" cy="3108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993392"/>
            <a:ext cx="777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i="0">
                <a:solidFill>
                  <a:srgbClr val="22D3EE"/>
                </a:solidFill>
                <a:latin typeface="Bahnschrif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0482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2F7FF"/>
                </a:solidFill>
                <a:latin typeface="Segoe UI"/>
              </a:rPr>
              <a:t>contenedores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3408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CAECB"/>
                </a:solidFill>
                <a:latin typeface="Segoe UI"/>
              </a:rPr>
              <a:t>Mosquitto, simulator, processor y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246120"/>
            <a:ext cx="5340096" cy="194767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6656" y="3264408"/>
            <a:ext cx="5303520" cy="31089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40156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 spc="110">
                <a:solidFill>
                  <a:srgbClr val="34D399"/>
                </a:solidFill>
                <a:latin typeface="Segoe UI"/>
              </a:rPr>
              <a:t>LO REAL  ·  SENSOR FÍSICO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3712463"/>
            <a:ext cx="4901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Detecciones de movimiento con fecha, hora y duración.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96 eventos visibles en el panel al momento de la revisión.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Tópico parking/pir/pir-entrada-01/event.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Campo simulated = false en los registros de Firestore.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246120"/>
            <a:ext cx="5340096" cy="194767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5" y="3264408"/>
            <a:ext cx="5303520" cy="3108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340156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 spc="110">
                <a:solidFill>
                  <a:srgbClr val="A78BFA"/>
                </a:solidFill>
                <a:latin typeface="Segoe UI"/>
              </a:rPr>
              <a:t>LO SIMULADO  ·  OCUPACIÓN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3712463"/>
            <a:ext cx="4901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Ocho plazas P01–P08 con estado libre/ocupado.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Distancias y ocupación generadas por el simulador.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218 ingresos en el último resumen recibido.</a:t>
            </a:r>
          </a:p>
          <a:p>
            <a:pPr algn="l" marL="182880" indent="-182880">
              <a:lnSpc>
                <a:spcPct val="112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1030" b="0" i="0">
                <a:solidFill>
                  <a:srgbClr val="9CAECB"/>
                </a:solidFill>
                <a:latin typeface="Segoe UI"/>
              </a:rPr>
              <a:t>Se inicia con perfil manual, separado del hardware.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58384"/>
            <a:ext cx="10872216" cy="713232"/>
          </a:xfrm>
          <a:prstGeom prst="roundRect">
            <a:avLst>
              <a:gd name="adj" fmla="val 7000"/>
            </a:avLst>
          </a:prstGeom>
          <a:solidFill>
            <a:srgbClr val="12170F"/>
          </a:solidFill>
          <a:ln w="12700">
            <a:solidFill>
              <a:srgbClr val="3A2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6656" y="5376672"/>
            <a:ext cx="41148" cy="6766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468112"/>
            <a:ext cx="104698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FBBF24"/>
                </a:solidFill>
                <a:latin typeface="Segoe UI"/>
              </a:rPr>
              <a:t>Límite declarado:  </a:t>
            </a:r>
            <a:r>
              <a:rPr sz="1019" b="0" i="0">
                <a:solidFill>
                  <a:srgbClr val="D8C9A5"/>
                </a:solidFill>
                <a:latin typeface="Segoe UI"/>
              </a:rPr>
              <a:t>el PIR detecta movimiento, no ocupación. No atribuimos los estados de las plazas al sensor físico; la simulación se etiqueta como 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HARDWARE Y ADQUISICIÓN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De movimiento a un evento con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Raspberry Pi 4 y PIR HC-SR501 sobre GPIO17: registro local en CSV y publicación por MQTT.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03 / 14</a:t>
            </a:r>
          </a:p>
        </p:txBody>
      </p:sp>
      <p:pic>
        <p:nvPicPr>
          <p:cNvPr id="10" name="Picture 9" descr="hw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47088"/>
            <a:ext cx="5989320" cy="26187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450799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6C7F9D"/>
                </a:solidFill>
                <a:latin typeface="Segoe UI"/>
              </a:rPr>
              <a:t>Montaje final: Raspberry Pi 4, PIR HC-SR501 en protoboard, fuente de 5 V y ventilación.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56048"/>
            <a:ext cx="1874519" cy="10789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08406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Bahnschrift"/>
              </a:rPr>
              <a:t>5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4982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alimentación VCC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42615" y="4956048"/>
            <a:ext cx="1874519" cy="10789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508406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Bahnschrift"/>
              </a:rPr>
              <a:t>GPIO17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544982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pin físico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6864" y="4956048"/>
            <a:ext cx="1874519" cy="10789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5" y="508406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Bahnschrift"/>
              </a:rPr>
              <a:t>CSV + 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5" y="544982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registro y envío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5432" y="1847088"/>
            <a:ext cx="4645152" cy="148132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9751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22D3EE"/>
                </a:solidFill>
                <a:latin typeface="Segoe UI"/>
              </a:rPr>
              <a:t>CONEXIÓN DEL SENSOR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25856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 i="0">
                <a:solidFill>
                  <a:srgbClr val="F2F7FF"/>
                </a:solidFill>
                <a:latin typeface="Consolas"/>
              </a:rPr>
              <a:t>VCC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25856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22D3EE"/>
                </a:solidFill>
                <a:latin typeface="Consolas"/>
              </a:rPr>
              <a:t>5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2585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pin físico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5877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 i="0">
                <a:solidFill>
                  <a:srgbClr val="F2F7FF"/>
                </a:solidFill>
                <a:latin typeface="Consolas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58775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22D3EE"/>
                </a:solidFill>
                <a:latin typeface="Consolas"/>
              </a:rPr>
              <a:t>GPIO17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58775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pin físico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91693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 i="0">
                <a:solidFill>
                  <a:srgbClr val="F2F7FF"/>
                </a:solidFill>
                <a:latin typeface="Consolas"/>
              </a:rPr>
              <a:t>GND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91693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22D3EE"/>
                </a:solidFill>
                <a:latin typeface="Consolas"/>
              </a:rPr>
              <a:t>GND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91693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pin físico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85432" y="3456432"/>
            <a:ext cx="4645152" cy="184708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58444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A78BFA"/>
                </a:solidFill>
                <a:latin typeface="Segoe UI"/>
              </a:rPr>
              <a:t>DEL GPIO AL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85876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onsola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84962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9CAECB"/>
                </a:solidFill>
                <a:latin typeface="Segoe UI"/>
              </a:rPr>
              <a:t>Calibración inicial del PIR y lectura digital cada 0,5 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19709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418795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9CAECB"/>
                </a:solidFill>
                <a:latin typeface="Segoe UI"/>
              </a:rPr>
              <a:t>Evento de inicio y fin de movimiento, con duración.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53542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45262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9CAECB"/>
                </a:solidFill>
                <a:latin typeface="Segoe UI"/>
              </a:rPr>
              <a:t>Registro en CSV local y publicación MQTT.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87375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86460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9CAECB"/>
                </a:solidFill>
                <a:latin typeface="Segoe UI"/>
              </a:rPr>
              <a:t>systemd arranca el script al encender la placa.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5432" y="5431536"/>
            <a:ext cx="4645152" cy="786384"/>
          </a:xfrm>
          <a:prstGeom prst="roundRect">
            <a:avLst>
              <a:gd name="adj" fmla="val 7000"/>
            </a:avLst>
          </a:prstGeom>
          <a:solidFill>
            <a:srgbClr val="12170F"/>
          </a:solidFill>
          <a:ln w="12700">
            <a:solidFill>
              <a:srgbClr val="3A2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03720" y="5449824"/>
            <a:ext cx="36576" cy="7498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5522976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D8C9A5"/>
                </a:solidFill>
                <a:latin typeface="Segoe UI"/>
              </a:rPr>
              <a:t>La duración mide la señal activa del PIR; no equivale al tiempo que un vehículo permanece estacionado.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Mensajes desacoplados y una sola salida a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Mosquitto separa productores y consumidores; la API local concentra la sincronización HTTPS saliente.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102352" cy="4133087"/>
          </a:xfrm>
          <a:prstGeom prst="roundRect">
            <a:avLst>
              <a:gd name="adj" fmla="val 5000"/>
            </a:avLst>
          </a:prstGeom>
          <a:solidFill>
            <a:srgbClr val="0A1220">
              <a:alpha val="55000"/>
            </a:srgbClr>
          </a:solidFill>
          <a:ln w="12700">
            <a:solidFill>
              <a:srgbClr val="2334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3852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20">
                <a:solidFill>
                  <a:srgbClr val="22D3EE"/>
                </a:solidFill>
                <a:latin typeface="Segoe UI"/>
              </a:rPr>
              <a:t>EN LA RASPBERRY PI 4  ·  DOCKER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5102352" cy="4133087"/>
          </a:xfrm>
          <a:prstGeom prst="roundRect">
            <a:avLst>
              <a:gd name="adj" fmla="val 5000"/>
            </a:avLst>
          </a:prstGeom>
          <a:solidFill>
            <a:srgbClr val="0A1220">
              <a:alpha val="55000"/>
            </a:srgbClr>
          </a:solidFill>
          <a:ln w="12700">
            <a:solidFill>
              <a:srgbClr val="2334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0296" y="193852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20">
                <a:solidFill>
                  <a:srgbClr val="A78BFA"/>
                </a:solidFill>
                <a:latin typeface="Segoe UI"/>
              </a:rPr>
              <a:t>EN LA NUBE  ·  PAAS DE COSTO CERO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212848"/>
            <a:ext cx="4617720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23113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304288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PIR  +  simulador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69464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HC-SR501 en GPIO17  ·  P01–P08 por perfil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218688"/>
            <a:ext cx="4617720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23697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10128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Mosquitto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75304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Broker MQTT  ·  tópicos parking/...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224528"/>
            <a:ext cx="4617720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24281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315968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processor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81144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Calcula estados por plaza y resúmenes de ocupación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5230368"/>
            <a:ext cx="4617720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248655"/>
            <a:ext cx="32004" cy="6492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21807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API  +  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586983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FastAPI  ·  buffer local e idempotencia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5230368"/>
            <a:ext cx="4636008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86016" y="5248655"/>
            <a:ext cx="32004" cy="64922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8896" y="5321807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Cloud API  ·  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5586983"/>
            <a:ext cx="427024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Valida token y metadatos  ·  POST /ingest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7728" y="4224528"/>
            <a:ext cx="4636008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86016" y="424281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6" y="4315968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Firestore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581144"/>
            <a:ext cx="427024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events  ·  spaces  ·  summaries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67728" y="3218688"/>
            <a:ext cx="4636008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6016" y="323697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3310128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Dashboard  ·  Next.js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3575304"/>
            <a:ext cx="427024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Tiempo real, histórico y alertas en Vercel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67728" y="2212848"/>
            <a:ext cx="4636008" cy="685800"/>
          </a:xfrm>
          <a:prstGeom prst="roundRect">
            <a:avLst>
              <a:gd name="adj" fmla="val 7000"/>
            </a:avLst>
          </a:prstGeom>
          <a:solidFill>
            <a:srgbClr val="111D31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86016" y="2231136"/>
            <a:ext cx="32004" cy="64922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68896" y="2304288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F2F7FF"/>
                </a:solidFill>
                <a:latin typeface="Segoe UI"/>
              </a:rPr>
              <a:t>Firebase Auth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2569464"/>
            <a:ext cx="427024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9CAECB"/>
                </a:solidFill>
                <a:latin typeface="Segoe UI"/>
              </a:rPr>
              <a:t>Roles admin / viewer  ·  sesión del usuario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0400" y="2898648"/>
            <a:ext cx="0" cy="310896"/>
          </a:xfrm>
          <a:prstGeom prst="line">
            <a:avLst/>
          </a:prstGeom>
          <a:ln w="2032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00400" y="3904487"/>
            <a:ext cx="0" cy="310896"/>
          </a:xfrm>
          <a:prstGeom prst="line">
            <a:avLst/>
          </a:prstGeom>
          <a:ln w="2032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00400" y="4910328"/>
            <a:ext cx="0" cy="310896"/>
          </a:xfrm>
          <a:prstGeom prst="line">
            <a:avLst/>
          </a:prstGeom>
          <a:ln w="2032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513832" y="5577840"/>
            <a:ext cx="1453896" cy="0"/>
          </a:xfrm>
          <a:prstGeom prst="line">
            <a:avLst/>
          </a:prstGeom>
          <a:ln w="2286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577840" y="53218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20" b="0" i="0" spc="60">
                <a:solidFill>
                  <a:srgbClr val="A78BFA"/>
                </a:solidFill>
                <a:latin typeface="Segoe UI"/>
              </a:rPr>
              <a:t>HTTPS saliente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9281160" y="4919472"/>
            <a:ext cx="0" cy="310896"/>
          </a:xfrm>
          <a:prstGeom prst="line">
            <a:avLst/>
          </a:prstGeom>
          <a:ln w="2032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281160" y="3913632"/>
            <a:ext cx="0" cy="310896"/>
          </a:xfrm>
          <a:prstGeom prst="line">
            <a:avLst/>
          </a:prstGeom>
          <a:ln w="2032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81160" y="2898648"/>
            <a:ext cx="0" cy="301752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96112" y="6089904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90" b="1" i="0">
                <a:solidFill>
                  <a:srgbClr val="F2F7FF"/>
                </a:solidFill>
                <a:latin typeface="Segoe UI"/>
              </a:rPr>
              <a:t>Decisiones:  </a:t>
            </a:r>
            <a:r>
              <a:rPr sz="890" b="0" i="0">
                <a:solidFill>
                  <a:srgbClr val="9CAECB"/>
                </a:solidFill>
                <a:latin typeface="Segoe UI"/>
              </a:rPr>
              <a:t>MQTT desacopla sensor y API  ·  el simulador no arranca solo  ·  SQLite sostiene la operación sin red  ·  la Pi nunca usa credenciales de administrador.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Cuatro contenedores, una responsabilidad cada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Docker Compose orquesta el borde; el simulador se levanta con un perfil manual para no mezclarlo con el hardware.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2578608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65376"/>
            <a:ext cx="2542032" cy="3108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494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F2F7FF"/>
                </a:solidFill>
                <a:latin typeface="Bahnschrift"/>
              </a:rPr>
              <a:t>mosquitto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22D3EE"/>
                </a:solidFill>
                <a:latin typeface="Segoe UI"/>
              </a:rPr>
              <a:t>BROKER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907792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9CAECB"/>
                </a:solidFill>
                <a:latin typeface="Segoe UI"/>
              </a:rPr>
              <a:t>Distribuye los mensajes entre productores y consumidores.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785615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 i="0">
                <a:solidFill>
                  <a:srgbClr val="6C7F9D"/>
                </a:solidFill>
                <a:latin typeface="Consolas"/>
              </a:rPr>
              <a:t>estado healthy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847088"/>
            <a:ext cx="2578608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19856" y="1865376"/>
            <a:ext cx="2542032" cy="3108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011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2494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F2F7FF"/>
                </a:solidFill>
                <a:latin typeface="Bahnschrift"/>
              </a:rPr>
              <a:t>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A78BFA"/>
                </a:solidFill>
                <a:latin typeface="Segoe UI"/>
              </a:rPr>
              <a:t>PRODUCTOR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907792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9CAECB"/>
                </a:solidFill>
                <a:latin typeface="Segoe UI"/>
              </a:rPr>
              <a:t>Genera estados y distancias de las plazas P01 a P08.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785615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 i="0">
                <a:solidFill>
                  <a:srgbClr val="6C7F9D"/>
                </a:solidFill>
                <a:latin typeface="Consolas"/>
              </a:rPr>
              <a:t>perfil manual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847088"/>
            <a:ext cx="2578608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63055" y="1865376"/>
            <a:ext cx="2542032" cy="31089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011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2494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F2F7FF"/>
                </a:solidFill>
                <a:latin typeface="Bahnschrift"/>
              </a:rPr>
              <a:t>processor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60A5FA"/>
                </a:solidFill>
                <a:latin typeface="Segoe UI"/>
              </a:rPr>
              <a:t>LÓGICA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2907792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9CAECB"/>
                </a:solidFill>
                <a:latin typeface="Segoe UI"/>
              </a:rPr>
              <a:t>Calcula el estado por plaza y los resúmenes de ocupación.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785615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 i="0">
                <a:solidFill>
                  <a:srgbClr val="6C7F9D"/>
                </a:solidFill>
                <a:latin typeface="Consolas"/>
              </a:rPr>
              <a:t>restart: unless-stopped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847088"/>
            <a:ext cx="2578608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06256" y="1865376"/>
            <a:ext cx="2542032" cy="3108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2011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22494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F2F7FF"/>
                </a:solidFill>
                <a:latin typeface="Bahnschrift"/>
              </a:rPr>
              <a:t>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FBBF24"/>
                </a:solidFill>
                <a:latin typeface="Segoe UI"/>
              </a:rPr>
              <a:t>PERSISTENCIA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2907792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9CAECB"/>
                </a:solidFill>
                <a:latin typeface="Segoe UI"/>
              </a:rPr>
              <a:t>Guarda en SQLite, expone REST y sincroniza pendientes.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3785615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 i="0">
                <a:solidFill>
                  <a:srgbClr val="6C7F9D"/>
                </a:solidFill>
                <a:latin typeface="Consolas"/>
              </a:rPr>
              <a:t>restart: unless-stopped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435254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22D3EE"/>
                </a:solidFill>
                <a:latin typeface="Segoe UI"/>
              </a:rPr>
              <a:t>EVIDENCIA  ·  DOCKER COMPOSE PS</a:t>
            </a:r>
          </a:p>
        </p:txBody>
      </p:sp>
      <p:pic>
        <p:nvPicPr>
          <p:cNvPr id="39" name="Picture 38" descr="ter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53712"/>
            <a:ext cx="4937760" cy="5842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77824" y="51480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9CAECB"/>
                </a:solidFill>
                <a:latin typeface="Segoe UI"/>
              </a:rPr>
              <a:t>3 servicios base  ·  Mosquitto en estado healthy</a:t>
            </a:r>
          </a:p>
        </p:txBody>
      </p:sp>
      <p:pic>
        <p:nvPicPr>
          <p:cNvPr id="41" name="Picture 40" descr="ter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58384"/>
            <a:ext cx="4937760" cy="85583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7824" y="6227064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9CAECB"/>
                </a:solidFill>
                <a:latin typeface="Segoe UI"/>
              </a:rPr>
              <a:t>4 servicios al habilitar simulator por perfil manual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65392" y="4370832"/>
            <a:ext cx="4965192" cy="184708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44988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A78BFA"/>
                </a:solidFill>
                <a:latin typeface="Segoe UI"/>
              </a:rPr>
              <a:t>POR QUÉ ASÍ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4791456"/>
            <a:ext cx="4526280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8000"/>
              </a:lnSpc>
              <a:spcAft>
                <a:spcPts val="4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40" b="0" i="0">
                <a:solidFill>
                  <a:srgbClr val="9CAECB"/>
                </a:solidFill>
                <a:latin typeface="Segoe UI"/>
              </a:rPr>
              <a:t>MQTT evita que el sensor conozca a la API.</a:t>
            </a:r>
          </a:p>
          <a:p>
            <a:pPr algn="l" marL="182880" indent="-182880">
              <a:lnSpc>
                <a:spcPct val="108000"/>
              </a:lnSpc>
              <a:spcAft>
                <a:spcPts val="4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40" b="0" i="0">
                <a:solidFill>
                  <a:srgbClr val="9CAECB"/>
                </a:solidFill>
                <a:latin typeface="Segoe UI"/>
              </a:rPr>
              <a:t>La API es la única salida a Internet.</a:t>
            </a:r>
          </a:p>
          <a:p>
            <a:pPr algn="l" marL="182880" indent="-182880">
              <a:lnSpc>
                <a:spcPct val="108000"/>
              </a:lnSpc>
              <a:spcAft>
                <a:spcPts val="4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40" b="0" i="0">
                <a:solidFill>
                  <a:srgbClr val="9CAECB"/>
                </a:solidFill>
                <a:latin typeface="Segoe UI"/>
              </a:rPr>
              <a:t>El simulador no arranca solo: separa demo y hardware.</a:t>
            </a:r>
          </a:p>
          <a:p>
            <a:pPr algn="l" marL="182880" indent="-182880">
              <a:lnSpc>
                <a:spcPct val="108000"/>
              </a:lnSpc>
              <a:spcAft>
                <a:spcPts val="4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40" b="0" i="0">
                <a:solidFill>
                  <a:srgbClr val="9CAECB"/>
                </a:solidFill>
                <a:latin typeface="Segoe UI"/>
              </a:rPr>
              <a:t>cloud-api y web viven en Vercel, no en la Raspberry.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API, DATOS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Un camino controlado hacia la nube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FastAPI en el borde, Firestore como fuente de verdad del dashboard y autenticación en cada extremo.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06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3520440" cy="396849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22D3EE"/>
                </a:solidFill>
                <a:latin typeface="Segoe UI"/>
              </a:rPr>
              <a:t>API LOCAL  · 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8600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F2F7FF"/>
                </a:solidFill>
                <a:latin typeface="Consolas"/>
              </a:rP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49631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6C7F9D"/>
                </a:solidFill>
                <a:latin typeface="Segoe UI"/>
              </a:rPr>
              <a:t>estado local y nube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85292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F2F7FF"/>
                </a:solidFill>
                <a:latin typeface="Consolas"/>
              </a:rPr>
              <a:t>GET /parking/spaces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63240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6C7F9D"/>
                </a:solidFill>
                <a:latin typeface="Segoe UI"/>
              </a:rPr>
              <a:t>plazas y ocupación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419856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F2F7FF"/>
                </a:solidFill>
                <a:latin typeface="Consolas"/>
              </a:rPr>
              <a:t>GET /parking/events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63016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6C7F9D"/>
                </a:solidFill>
                <a:latin typeface="Segoe UI"/>
              </a:rPr>
              <a:t>historial con ?limit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8678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F2F7FF"/>
                </a:solidFill>
                <a:latin typeface="Consolas"/>
              </a:rPr>
              <a:t>GET /parking/sync-status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197096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6C7F9D"/>
                </a:solidFill>
                <a:latin typeface="Segoe UI"/>
              </a:rPr>
              <a:t>cola y conexión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55371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F2F7FF"/>
                </a:solidFill>
                <a:latin typeface="Consolas"/>
              </a:rPr>
              <a:t>POST /ingest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7640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30" b="0" i="0">
                <a:solidFill>
                  <a:srgbClr val="6C7F9D"/>
                </a:solidFill>
                <a:latin typeface="Segoe UI"/>
              </a:rPr>
              <a:t>cloud: token + escritura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358384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22D3EE"/>
                </a:solidFill>
                <a:latin typeface="Segoe UI"/>
              </a:rPr>
              <a:t>Endpoints documentados en el README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1847088"/>
            <a:ext cx="3520440" cy="396849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9933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A78BFA"/>
                </a:solidFill>
                <a:latin typeface="Segoe UI"/>
              </a:rPr>
              <a:t>MODELO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2860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event_id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228600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idempotencia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6151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device_id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6" y="261518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pir-entrada-01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944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856" y="29443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fecha y hora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27355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event_type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3273551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motion_start /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602735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simulated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5856" y="3602735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false en lo físico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9319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1" i="0">
                <a:solidFill>
                  <a:srgbClr val="22D3EE"/>
                </a:solidFill>
                <a:latin typeface="Consolas"/>
              </a:rPr>
              <a:t>space_id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39319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CAECB"/>
                </a:solidFill>
                <a:latin typeface="Segoe UI"/>
              </a:rPr>
              <a:t>P01–P08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53712" y="4370832"/>
            <a:ext cx="3081528" cy="0"/>
          </a:xfrm>
          <a:prstGeom prst="line">
            <a:avLst/>
          </a:prstGeom>
          <a:ln w="9525">
            <a:solidFill>
              <a:srgbClr val="223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53712" y="446227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9CAECB"/>
                </a:solidFill>
                <a:latin typeface="Segoe UI"/>
              </a:rPr>
              <a:t>Colecciones: events · spaces · summaries. Índices solo para las consultas del dashboard.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2120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6C7F9D"/>
                </a:solidFill>
                <a:latin typeface="Segoe UI"/>
              </a:rPr>
              <a:t>Tamaño e índices explican los 234 MB/día estimados.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1847088"/>
            <a:ext cx="3520440" cy="396849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9933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34D399"/>
                </a:solidFill>
                <a:latin typeface="Segoe UI"/>
              </a:rPr>
              <a:t>SEGURIDAD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30428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Segoe UI"/>
              </a:rPr>
              <a:t>Firebase 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523744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Roles admin y viewer; el viewer no ve Administración.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10896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Segoe UI"/>
              </a:rPr>
              <a:t>Token de dispositivo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328415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Se valida en Cloud API antes de escribir.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9136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Segoe UI"/>
              </a:rPr>
              <a:t>Secretos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1330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Variables de entorno, fuera del repositorio y de la Pi.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71830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Segoe UI"/>
              </a:rPr>
              <a:t>Reglas Firestore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937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9CAECB"/>
                </a:solidFill>
                <a:latin typeface="Segoe UI"/>
              </a:rPr>
              <a:t>36 rechazos registrados al momento de medir.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925312"/>
            <a:ext cx="10872216" cy="457200"/>
          </a:xfrm>
          <a:prstGeom prst="roundRect">
            <a:avLst>
              <a:gd name="adj" fmla="val 7000"/>
            </a:avLst>
          </a:prstGeom>
          <a:solidFill>
            <a:srgbClr val="0A1524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5925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22D3EE"/>
                </a:solidFill>
                <a:latin typeface="Segoe UI"/>
              </a:rPr>
              <a:t>Límite de confianza:  </a:t>
            </a:r>
            <a:r>
              <a:rPr sz="940" b="0" i="0">
                <a:solidFill>
                  <a:srgbClr val="9CAECB"/>
                </a:solidFill>
                <a:latin typeface="Segoe UI"/>
              </a:rPr>
              <a:t>la Raspberry nunca recibe credenciales de administrador; la service account de Firebase vive solo en Vercel.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EVIDENCIA DEL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Dos verdades, claramente separadas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Sensor físico y simulación conviven en el mismo panel, pero no se mezclan en las métricas.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07 / 14</a:t>
            </a:r>
          </a:p>
        </p:txBody>
      </p:sp>
      <p:pic>
        <p:nvPicPr>
          <p:cNvPr id="10" name="Picture 9" descr="shot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8800"/>
            <a:ext cx="6858000" cy="34747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" y="1956816"/>
            <a:ext cx="1481328" cy="228600"/>
          </a:xfrm>
          <a:prstGeom prst="roundRect">
            <a:avLst>
              <a:gd name="adj" fmla="val 50000"/>
            </a:avLst>
          </a:prstGeom>
          <a:solidFill>
            <a:srgbClr val="0A1322">
              <a:alpha val="92000"/>
            </a:srgbClr>
          </a:solidFill>
          <a:ln w="1016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1" i="0" spc="100">
                <a:solidFill>
                  <a:srgbClr val="22D3EE"/>
                </a:solidFill>
                <a:latin typeface="Segoe UI"/>
              </a:rPr>
              <a:t>PANEL GENERAL</a:t>
            </a:r>
          </a:p>
        </p:txBody>
      </p:sp>
      <p:pic>
        <p:nvPicPr>
          <p:cNvPr id="13" name="Picture 12" descr="shot_ale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0"/>
            <a:ext cx="3703320" cy="187637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27264" y="1947672"/>
            <a:ext cx="1005840" cy="228600"/>
          </a:xfrm>
          <a:prstGeom prst="roundRect">
            <a:avLst>
              <a:gd name="adj" fmla="val 50000"/>
            </a:avLst>
          </a:prstGeom>
          <a:solidFill>
            <a:srgbClr val="0A1322">
              <a:alpha val="92000"/>
            </a:srgbClr>
          </a:solidFill>
          <a:ln w="1016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1947672"/>
            <a:ext cx="859536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1" i="0" spc="100">
                <a:solidFill>
                  <a:srgbClr val="FBBF24"/>
                </a:solidFill>
                <a:latin typeface="Segoe UI"/>
              </a:rPr>
              <a:t>ALERTAS</a:t>
            </a:r>
          </a:p>
        </p:txBody>
      </p:sp>
      <p:pic>
        <p:nvPicPr>
          <p:cNvPr id="16" name="Picture 15" descr="shot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794760"/>
            <a:ext cx="3703320" cy="187637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827264" y="3913632"/>
            <a:ext cx="1115568" cy="228600"/>
          </a:xfrm>
          <a:prstGeom prst="roundRect">
            <a:avLst>
              <a:gd name="adj" fmla="val 50000"/>
            </a:avLst>
          </a:prstGeom>
          <a:solidFill>
            <a:srgbClr val="0A1322">
              <a:alpha val="92000"/>
            </a:srgbClr>
          </a:solidFill>
          <a:ln w="1016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391363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1" i="0" spc="100">
                <a:solidFill>
                  <a:srgbClr val="A78BFA"/>
                </a:solidFill>
                <a:latin typeface="Segoe UI"/>
              </a:rPr>
              <a:t>HISTORIAL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eventos PIR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71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15184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09:52:57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5184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última detección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3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62,5 %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ocupación simulada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3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3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ingresos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4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228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4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registros de historial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02368" y="5705856"/>
            <a:ext cx="1719072" cy="62179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576072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 i="0">
                <a:solidFill>
                  <a:srgbClr val="F2F7FF"/>
                </a:solidFill>
                <a:latin typeface="Bahnschrift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60167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 i="0">
                <a:solidFill>
                  <a:srgbClr val="6C7F9D"/>
                </a:solidFill>
                <a:latin typeface="Segoe UI"/>
              </a:rPr>
              <a:t>alertas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OPERACIÓN Y RESILIENCIA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Arranca solo, conserva datos y sincroniza sin duplicados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systemd levanta el PIR; Docker reinicia los servicios; SQLite actúa como buffer idempotente.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08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10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22D3EE"/>
                </a:solidFill>
                <a:latin typeface="Segoe UI"/>
              </a:rPr>
              <a:t>CONTENEDORES EN LA RASPBERRY</a:t>
            </a:r>
          </a:p>
        </p:txBody>
      </p:sp>
      <p:pic>
        <p:nvPicPr>
          <p:cNvPr id="11" name="Picture 10" descr="ter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48256"/>
            <a:ext cx="5577840" cy="6599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2734056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9CAECB"/>
                </a:solidFill>
                <a:latin typeface="Segoe UI"/>
              </a:rPr>
              <a:t>3 servicios base  ·  Mosquitto healthy</a:t>
            </a:r>
          </a:p>
        </p:txBody>
      </p:sp>
      <p:pic>
        <p:nvPicPr>
          <p:cNvPr id="13" name="Picture 12" descr="ter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62656"/>
            <a:ext cx="5577840" cy="9667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402336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9CAECB"/>
                </a:solidFill>
                <a:latin typeface="Segoe UI"/>
              </a:rPr>
              <a:t>4 servicios con el simulador habilitado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261104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34D399"/>
                </a:solidFill>
                <a:latin typeface="Segoe UI"/>
              </a:rPr>
              <a:t>COLA DE SINCRONIZACIÓN  ·  /PARKING/SYNC-STATUS</a:t>
            </a:r>
          </a:p>
        </p:txBody>
      </p:sp>
      <p:pic>
        <p:nvPicPr>
          <p:cNvPr id="16" name="Picture 15" descr="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98848"/>
            <a:ext cx="4892040" cy="183070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01968" y="1847088"/>
            <a:ext cx="4928616" cy="149961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197510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00">
                <a:solidFill>
                  <a:srgbClr val="6C7F9D"/>
                </a:solidFill>
                <a:latin typeface="Segoe UI"/>
              </a:rPr>
              <a:t>ESTADO OBSERVADO  ·  28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24942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Bahnschrift"/>
              </a:rPr>
              <a:t>23.728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63347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CAECB"/>
                </a:solidFill>
                <a:latin typeface="Segoe UI"/>
              </a:rPr>
              <a:t>eventos locales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24942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Bahnschrif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63347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CAECB"/>
                </a:solidFill>
                <a:latin typeface="Segoe UI"/>
              </a:rPr>
              <a:t>pendientes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224942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Bahnschrift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633472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CAECB"/>
                </a:solidFill>
                <a:latin typeface="Segoe UI"/>
              </a:rPr>
              <a:t>nube configurada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1968" y="3474720"/>
            <a:ext cx="4928616" cy="168249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36027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10">
                <a:solidFill>
                  <a:srgbClr val="60A5FA"/>
                </a:solidFill>
                <a:latin typeface="Segoe UI"/>
              </a:rPr>
              <a:t>CADENA DE RECUPERACIÓN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91363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>
                <a:solidFill>
                  <a:srgbClr val="60A5FA"/>
                </a:solidFill>
                <a:latin typeface="Consola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904488"/>
            <a:ext cx="4160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90" b="0" i="0">
                <a:solidFill>
                  <a:srgbClr val="9CAECB"/>
                </a:solidFill>
                <a:latin typeface="Segoe UI"/>
              </a:rPr>
              <a:t>SQLite guarda el evento antes de salir.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419709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>
                <a:solidFill>
                  <a:srgbClr val="60A5FA"/>
                </a:solidFill>
                <a:latin typeface="Consola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87952"/>
            <a:ext cx="4160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90" b="0" i="0">
                <a:solidFill>
                  <a:srgbClr val="9CAECB"/>
                </a:solidFill>
                <a:latin typeface="Segoe UI"/>
              </a:rPr>
              <a:t>ID único por evento: reintento sin duplicar.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4480559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>
                <a:solidFill>
                  <a:srgbClr val="60A5FA"/>
                </a:solidFill>
                <a:latin typeface="Consola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471416"/>
            <a:ext cx="4160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90" b="0" i="0">
                <a:solidFill>
                  <a:srgbClr val="9CAECB"/>
                </a:solidFill>
                <a:latin typeface="Segoe UI"/>
              </a:rPr>
              <a:t>HTTPS saliente al recuperar conectividad.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1424" y="4764023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>
                <a:solidFill>
                  <a:srgbClr val="60A5FA"/>
                </a:solidFill>
                <a:latin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79"/>
            <a:ext cx="4160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90" b="0" i="0">
                <a:solidFill>
                  <a:srgbClr val="9CAECB"/>
                </a:solidFill>
                <a:latin typeface="Segoe UI"/>
              </a:rPr>
              <a:t>Cloud API valida y escribe en Firestore.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1968" y="5285232"/>
            <a:ext cx="4928616" cy="896112"/>
          </a:xfrm>
          <a:prstGeom prst="roundRect">
            <a:avLst>
              <a:gd name="adj" fmla="val 7000"/>
            </a:avLst>
          </a:prstGeom>
          <a:solidFill>
            <a:srgbClr val="12170F"/>
          </a:solidFill>
          <a:ln w="12700">
            <a:solidFill>
              <a:srgbClr val="3A2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20256" y="5303520"/>
            <a:ext cx="36576" cy="85953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5376672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40" b="0" i="0">
                <a:solidFill>
                  <a:srgbClr val="D8C9A5"/>
                </a:solidFill>
                <a:latin typeface="Segoe UI"/>
              </a:rPr>
              <a:t>Sin prueba controlada de desconexión: la evidencia es el estado 0 pendientes y el diseño idempotente, no una medición de caída.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CONSUMO ESTIMADO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La demo no se parece a operar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Mismo modelo de eventos; cambia el tiempo que el simulador permanece activo.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09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349240" cy="144475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47088"/>
            <a:ext cx="5312664" cy="3108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7510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30">
                <a:solidFill>
                  <a:srgbClr val="22D3EE"/>
                </a:solidFill>
                <a:latin typeface="Segoe UI"/>
              </a:rPr>
              <a:t>DEMO  ·  2 H/DÍA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3113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2F7FF"/>
                </a:solidFill>
                <a:latin typeface="Bahnschrift"/>
              </a:rPr>
              <a:t>4.178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3957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9CAECB"/>
                </a:solidFill>
                <a:latin typeface="Segoe UI"/>
              </a:rPr>
              <a:t>eventos/día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61518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22D3EE"/>
                </a:solidFill>
                <a:latin typeface="Segoe UI"/>
              </a:rPr>
              <a:t>125.340 /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87121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6C7F9D"/>
                </a:solidFill>
                <a:latin typeface="Segoe UI"/>
              </a:rPr>
              <a:t>20,9 % de las escrituras diarias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28800"/>
            <a:ext cx="5349240" cy="144475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1" y="1847088"/>
            <a:ext cx="5312664" cy="3108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7510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30">
                <a:solidFill>
                  <a:srgbClr val="A78BFA"/>
                </a:solidFill>
                <a:latin typeface="Segoe UI"/>
              </a:rPr>
              <a:t>CONTINUO  ·  24 H/DÍA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3113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2F7FF"/>
                </a:solidFill>
                <a:latin typeface="Bahnschrift"/>
              </a:rPr>
              <a:t>49.032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3957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9CAECB"/>
                </a:solidFill>
                <a:latin typeface="Segoe UI"/>
              </a:rPr>
              <a:t>eventos/día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61518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"/>
              </a:rPr>
              <a:t>1.470.960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6C7F9D"/>
                </a:solidFill>
                <a:latin typeface="Segoe UI"/>
              </a:rPr>
              <a:t>245,2 % de las escrituras diarias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511296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6C7F9D"/>
                </a:solidFill>
                <a:latin typeface="Segoe UI"/>
              </a:rPr>
              <a:t>COMPOSICIÓN DEL ESCENARIO CONTINUO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3822191"/>
            <a:ext cx="2996982" cy="347472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87354" y="3822191"/>
            <a:ext cx="3454584" cy="347472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55655" y="3822191"/>
            <a:ext cx="36576" cy="347472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6656" y="4315968"/>
            <a:ext cx="77724" cy="777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2611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0" i="0">
                <a:solidFill>
                  <a:srgbClr val="9CAECB"/>
                </a:solidFill>
                <a:latin typeface="Segoe UI"/>
              </a:rPr>
              <a:t>Estados de plazas  </a:t>
            </a:r>
            <a:r>
              <a:rPr sz="880" b="1" i="0">
                <a:solidFill>
                  <a:srgbClr val="F2F7FF"/>
                </a:solidFill>
                <a:latin typeface="Segoe UI"/>
              </a:rPr>
              <a:t>22.738</a:t>
            </a:r>
          </a:p>
        </p:txBody>
      </p:sp>
      <p:sp>
        <p:nvSpPr>
          <p:cNvPr id="30" name="Oval 29"/>
          <p:cNvSpPr/>
          <p:nvPr/>
        </p:nvSpPr>
        <p:spPr>
          <a:xfrm>
            <a:off x="2816352" y="4315968"/>
            <a:ext cx="77724" cy="7772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42611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0" i="0">
                <a:solidFill>
                  <a:srgbClr val="9CAECB"/>
                </a:solidFill>
                <a:latin typeface="Segoe UI"/>
              </a:rPr>
              <a:t>Resúmenes  </a:t>
            </a:r>
            <a:r>
              <a:rPr sz="880" b="1" i="0">
                <a:solidFill>
                  <a:srgbClr val="F2F7FF"/>
                </a:solidFill>
                <a:latin typeface="Segoe UI"/>
              </a:rPr>
              <a:t>26.194</a:t>
            </a:r>
          </a:p>
        </p:txBody>
      </p:sp>
      <p:sp>
        <p:nvSpPr>
          <p:cNvPr id="32" name="Oval 31"/>
          <p:cNvSpPr/>
          <p:nvPr/>
        </p:nvSpPr>
        <p:spPr>
          <a:xfrm>
            <a:off x="4956048" y="4315968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4064" y="42611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0" i="0">
                <a:solidFill>
                  <a:srgbClr val="9CAECB"/>
                </a:solidFill>
                <a:latin typeface="Segoe UI"/>
              </a:rPr>
              <a:t>PIR físico  </a:t>
            </a:r>
            <a:r>
              <a:rPr sz="880" b="1" i="0">
                <a:solidFill>
                  <a:srgbClr val="F2F7FF"/>
                </a:solidFill>
                <a:latin typeface="Segoe UI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590288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9CAECB"/>
                </a:solidFill>
                <a:latin typeface="Segoe UI"/>
              </a:rPr>
              <a:t>El resumen de ocupación pesa más que los estados de cada plaza. Cada evento se envía hoy como una operación independiente a la nube.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3456432"/>
            <a:ext cx="3895344" cy="2066543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54696" y="358444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10">
                <a:solidFill>
                  <a:srgbClr val="FBBF24"/>
                </a:solidFill>
                <a:latin typeface="Segoe UI"/>
              </a:rPr>
              <a:t>SUPUESTOS DEL CÁLCULO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4696" y="3877056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5000"/>
              </a:lnSpc>
              <a:spcAft>
                <a:spcPts val="400"/>
              </a:spcAft>
              <a:buClr>
                <a:srgbClr val="FBBF24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30 días por mes  ·  8 plazas simuladas</a:t>
            </a:r>
          </a:p>
          <a:p>
            <a:pPr algn="l" marL="182880" indent="-182880">
              <a:lnSpc>
                <a:spcPct val="105000"/>
              </a:lnSpc>
              <a:spcAft>
                <a:spcPts val="400"/>
              </a:spcAft>
              <a:buClr>
                <a:srgbClr val="FBBF24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100 eventos PIR/día (supuesto)</a:t>
            </a:r>
          </a:p>
          <a:p>
            <a:pPr algn="l" marL="182880" indent="-182880">
              <a:lnSpc>
                <a:spcPct val="105000"/>
              </a:lnSpc>
              <a:spcAft>
                <a:spcPts val="400"/>
              </a:spcAft>
              <a:buClr>
                <a:srgbClr val="FBBF24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2 usuarios × 8 h en el dashboard</a:t>
            </a:r>
          </a:p>
          <a:p>
            <a:pPr algn="l" marL="182880" indent="-182880">
              <a:lnSpc>
                <a:spcPct val="105000"/>
              </a:lnSpc>
              <a:spcAft>
                <a:spcPts val="400"/>
              </a:spcAft>
              <a:buClr>
                <a:srgbClr val="FBBF24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Documento más índices de Firestore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54696" y="4992624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>
                <a:solidFill>
                  <a:srgbClr val="FBBF24"/>
                </a:solidFill>
                <a:latin typeface="Segoe UI"/>
              </a:rPr>
              <a:t>Estimación, no medición continua.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687568"/>
            <a:ext cx="3493008" cy="64008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74243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Bahnschrift"/>
              </a:rPr>
              <a:t>67.096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79729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lecturas/día (24 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5687568"/>
            <a:ext cx="3493008" cy="64008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7" y="574243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Bahnschrift"/>
              </a:rPr>
              <a:t>≈ 234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7" y="579729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almacenamiento/día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10144" y="5687568"/>
            <a:ext cx="3493008" cy="64008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4736" y="574243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Bahnschrift"/>
              </a:rPr>
              <a:t>0,57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54896" y="579729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eventos por segundo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LÍMITES DE LA CAPA GRATUITA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Alcanza para la demo, no para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Firestore se mide por día; Vercel, por invocaciones mensuales. La demo cabe; la operación continua no.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10872216" cy="117043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933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Escrituras Firestore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04288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Límite gratis: 20.000 / 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23744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1">
                <a:solidFill>
                  <a:srgbClr val="6C7F9D"/>
                </a:solidFill>
                <a:latin typeface="Segoe UI"/>
              </a:rPr>
              <a:t>eventos enviados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568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22D3EE"/>
                </a:solidFill>
                <a:latin typeface="Segoe UI"/>
              </a:rPr>
              <a:t>DEMO 2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5798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4.178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615184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0" y="2615184"/>
            <a:ext cx="506440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22D3EE"/>
                </a:solidFill>
                <a:latin typeface="Segoe UI"/>
              </a:rPr>
              <a:t>20,9 %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95681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FB7185"/>
                </a:solidFill>
                <a:latin typeface="Segoe UI"/>
              </a:rPr>
              <a:t>CONTINUO 24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1579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49.032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15184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35240" y="2615184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5603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>
                <a:solidFill>
                  <a:srgbClr val="FB7185"/>
                </a:solidFill>
                <a:latin typeface="Segoe UI"/>
              </a:rPr>
              <a:t>245,2 %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27248"/>
            <a:ext cx="10872216" cy="117043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29184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Lecturas Firestore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60273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Límite gratis: 50.000 / día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822191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1">
                <a:solidFill>
                  <a:srgbClr val="6C7F9D"/>
                </a:solidFill>
                <a:latin typeface="Segoe UI"/>
              </a:rPr>
              <a:t>2 usuarios × 8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25526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22D3EE"/>
                </a:solidFill>
                <a:latin typeface="Segoe UI"/>
              </a:rPr>
              <a:t>DEMO 2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45643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no modelado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913632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5876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6C7F9D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25526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FB7185"/>
                </a:solidFill>
                <a:latin typeface="Segoe UI"/>
              </a:rPr>
              <a:t>CONTINUO 24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45643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67.096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913632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3913632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38587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>
                <a:solidFill>
                  <a:srgbClr val="FB7185"/>
                </a:solidFill>
                <a:latin typeface="Segoe UI"/>
              </a:rPr>
              <a:t>134,2 %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25696"/>
            <a:ext cx="10872216" cy="1170432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5902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Invocaciones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4901183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Límite gratis: 1.000.000 / 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512064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1">
                <a:solidFill>
                  <a:srgbClr val="6C7F9D"/>
                </a:solidFill>
                <a:latin typeface="Segoe UI"/>
              </a:rPr>
              <a:t>ingesta por evento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5537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22D3EE"/>
                </a:solidFill>
                <a:latin typeface="Segoe UI"/>
              </a:rPr>
              <a:t>DEMO 2 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5488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125.340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5212080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0" y="5212080"/>
            <a:ext cx="302895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1572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22D3EE"/>
                </a:solidFill>
                <a:latin typeface="Segoe UI"/>
              </a:rPr>
              <a:t>12,5 %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5537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1" i="0" spc="120">
                <a:solidFill>
                  <a:srgbClr val="FB7185"/>
                </a:solidFill>
                <a:latin typeface="Segoe UI"/>
              </a:rPr>
              <a:t>CONTINUO 24 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475488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2F7FF"/>
                </a:solidFill>
                <a:latin typeface="Bahnschrift"/>
              </a:rPr>
              <a:t>1.470.960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5212080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635240" y="5212080"/>
            <a:ext cx="2423160" cy="11887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515721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>
                <a:solidFill>
                  <a:srgbClr val="FB7185"/>
                </a:solidFill>
                <a:latin typeface="Segoe UI"/>
              </a:rPr>
              <a:t>147,1 %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797296"/>
            <a:ext cx="10872216" cy="566928"/>
          </a:xfrm>
          <a:prstGeom prst="roundRect">
            <a:avLst>
              <a:gd name="adj" fmla="val 7000"/>
            </a:avLst>
          </a:prstGeom>
          <a:solidFill>
            <a:srgbClr val="1A1016"/>
          </a:solidFill>
          <a:ln w="12700">
            <a:solidFill>
              <a:srgbClr val="4A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6656" y="5815584"/>
            <a:ext cx="41148" cy="53035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5852160"/>
            <a:ext cx="104698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90" b="1" i="0">
                <a:solidFill>
                  <a:srgbClr val="FB7185"/>
                </a:solidFill>
                <a:latin typeface="Segoe UI"/>
              </a:rPr>
              <a:t>Primer cuello de botella: escrituras (245,2 %).  </a:t>
            </a:r>
            <a:r>
              <a:rPr sz="890" b="0" i="0">
                <a:solidFill>
                  <a:srgbClr val="F3C6CE"/>
                </a:solidFill>
                <a:latin typeface="Segoe UI"/>
              </a:rPr>
              <a:t>Si se supera la cuota, Firebase deja de aceptar operaciones hasta el día siguiente; no genera cobros. Almacenamiento: ≈234 MB/día → 1 GiB en ~4,4 días (estimado).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MEDICIÓN REAL DISPONIBLE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Las lecturas ya rozaron el 100 % de la cuota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Evidencia puntual del 28 de octubre: no reemplaza los siete días de seguimiento.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11 / 14</a:t>
            </a:r>
          </a:p>
        </p:txBody>
      </p:sp>
      <p:pic>
        <p:nvPicPr>
          <p:cNvPr id="10" name="Picture 9" descr="qu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28800"/>
            <a:ext cx="5074920" cy="26955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4590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9CAECB"/>
                </a:solidFill>
                <a:latin typeface="Segoe UI"/>
              </a:rPr>
              <a:t>Panel de cuotas Spark: ~43 mil lecturas (86,8 % de 50 mil) y ~3,3 mil escrituras (16,3 % de 20 mil).</a:t>
            </a:r>
          </a:p>
        </p:txBody>
      </p:sp>
      <p:pic>
        <p:nvPicPr>
          <p:cNvPr id="12" name="Picture 11" descr="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0"/>
            <a:ext cx="5266944" cy="15157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1928" y="3383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1" i="0">
                <a:solidFill>
                  <a:srgbClr val="FB7185"/>
                </a:solidFill>
                <a:latin typeface="Segoe UI"/>
              </a:rPr>
              <a:t>El recurso que primero se acercó al límite fueron las lecturas</a:t>
            </a:r>
            <a:r>
              <a:rPr sz="919" b="0" i="0">
                <a:solidFill>
                  <a:srgbClr val="9CAECB"/>
                </a:solidFill>
                <a:latin typeface="Segoe UI"/>
              </a:rPr>
              <a:t>, no las escrituras: el máximo de 7 días llegó al 100 %.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13632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97764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~79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206240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lecturas (intervalo)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913632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397764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~17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4206240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escrituras (intervalo)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913632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397764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3,1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4206240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autorizaciones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517136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5811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80974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rechazos de reglas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517136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7" y="45811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7" y="480974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conexiones máximas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4517136"/>
            <a:ext cx="1673352" cy="5120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45811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F2F7FF"/>
                </a:solidFill>
                <a:latin typeface="Bahnschrift"/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480974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 i="0">
                <a:solidFill>
                  <a:srgbClr val="6C7F9D"/>
                </a:solidFill>
                <a:latin typeface="Segoe UI"/>
              </a:rPr>
              <a:t>snapshot listeners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230368"/>
            <a:ext cx="10872216" cy="1078992"/>
          </a:xfrm>
          <a:prstGeom prst="roundRect">
            <a:avLst>
              <a:gd name="adj" fmla="val 7000"/>
            </a:avLst>
          </a:prstGeom>
          <a:solidFill>
            <a:srgbClr val="12170F"/>
          </a:solidFill>
          <a:ln w="12700">
            <a:solidFill>
              <a:srgbClr val="3A2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6656" y="5248656"/>
            <a:ext cx="41148" cy="1042415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40096"/>
            <a:ext cx="10378440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19" b="1" i="0">
                <a:solidFill>
                  <a:srgbClr val="FBBF24"/>
                </a:solidFill>
                <a:latin typeface="Segoe UI"/>
              </a:rPr>
              <a:t>Brecha declarada:  </a:t>
            </a:r>
            <a:r>
              <a:rPr sz="919" b="0" i="0">
                <a:solidFill>
                  <a:srgbClr val="D8C9A5"/>
                </a:solidFill>
                <a:latin typeface="Segoe UI"/>
              </a:rPr>
              <a:t>el retraso de materiales impidió completar los 7 días continuos. No hay cifra verificada de almacenamiento ni de invocaciones Vercel; las capturas cubren intervalos distintos y no se suman entre sí.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OPTIMIZACIÓN Y CRECIMIENTO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Optimizar antes de escalar: −97 % teórico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Propuestas no implementadas: el efecto se calculó, todavía no se midió.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12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6629400" cy="202996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5681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6C7F9D"/>
                </a:solidFill>
                <a:latin typeface="Segoe UI"/>
              </a:rPr>
              <a:t>ESCRITURAS FIRESTORE POR DÍA  · 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128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1" i="0" spc="110">
                <a:solidFill>
                  <a:srgbClr val="FB7185"/>
                </a:solidFill>
                <a:latin typeface="Segoe UI"/>
              </a:rPr>
              <a:t>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2F7FF"/>
                </a:solidFill>
                <a:latin typeface="Bahnschrift"/>
              </a:rPr>
              <a:t>49.032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2231136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9232" y="2231136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060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1" i="0" spc="100">
                <a:solidFill>
                  <a:srgbClr val="34D399"/>
                </a:solidFill>
                <a:latin typeface="Segoe UI"/>
              </a:rPr>
              <a:t>PROPUESTO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55117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2F7FF"/>
                </a:solidFill>
                <a:latin typeface="Bahnschrift"/>
              </a:rPr>
              <a:t>1.440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2624328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99232" y="2624328"/>
            <a:ext cx="81906" cy="1645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56032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Bahnschrift"/>
              </a:rPr>
              <a:t>−97,1 %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980944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Vercel: 1.470.960 → 43.200 invocaciones/mes con el mismo resumen por minuto.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31012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0" i="0">
                <a:solidFill>
                  <a:srgbClr val="6C7F9D"/>
                </a:solidFill>
                <a:latin typeface="Segoe UI"/>
              </a:rPr>
              <a:t>Diseño propuesto: un documento por minuto y por módulo, en lugar de un evento por operación.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828800"/>
            <a:ext cx="4078224" cy="202996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1956816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10">
                <a:solidFill>
                  <a:srgbClr val="A78BFA"/>
                </a:solidFill>
                <a:latin typeface="Segoe UI"/>
              </a:rPr>
              <a:t>PALANCAS DE DISEÑO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2249424"/>
            <a:ext cx="361188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5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60" b="0" i="0">
                <a:solidFill>
                  <a:srgbClr val="9CAECB"/>
                </a:solidFill>
                <a:latin typeface="Segoe UI"/>
              </a:rPr>
              <a:t>Resumen por minuto y por módulo</a:t>
            </a:r>
          </a:p>
          <a:p>
            <a:pPr algn="l" marL="182880" indent="-182880">
              <a:lnSpc>
                <a:spcPct val="105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60" b="0" i="0">
                <a:solidFill>
                  <a:srgbClr val="9CAECB"/>
                </a:solidFill>
                <a:latin typeface="Segoe UI"/>
              </a:rPr>
              <a:t>Envío por lotes a la API</a:t>
            </a:r>
          </a:p>
          <a:p>
            <a:pPr algn="l" marL="182880" indent="-182880">
              <a:lnSpc>
                <a:spcPct val="105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60" b="0" i="0">
                <a:solidFill>
                  <a:srgbClr val="9CAECB"/>
                </a:solidFill>
                <a:latin typeface="Segoe UI"/>
              </a:rPr>
              <a:t>Índices mínimos en Firestore</a:t>
            </a:r>
          </a:p>
          <a:p>
            <a:pPr algn="l" marL="182880" indent="-182880">
              <a:lnSpc>
                <a:spcPct val="105000"/>
              </a:lnSpc>
              <a:spcAft>
                <a:spcPts val="500"/>
              </a:spcAft>
              <a:buClr>
                <a:srgbClr val="A78BFA"/>
              </a:buClr>
              <a:buSzPct val="100000"/>
              <a:buFont typeface="Arial"/>
              <a:buChar char="•"/>
            </a:pPr>
            <a:r>
              <a:rPr sz="960" b="0" i="0">
                <a:solidFill>
                  <a:srgbClr val="9CAECB"/>
                </a:solidFill>
                <a:latin typeface="Segoe UI"/>
              </a:rPr>
              <a:t>Publicar solo cuando cambia el estado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41648"/>
            <a:ext cx="6629400" cy="1956816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169663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6C7F9D"/>
                </a:solidFill>
                <a:latin typeface="Segoe UI"/>
              </a:rPr>
              <a:t>PROYECCIÓN DE ESCRITURAS DIARIAS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44398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MÓDULOS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44398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DISEÑO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44398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PROPUESTO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70001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F2F7FF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70001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B7185"/>
                </a:solidFill>
                <a:latin typeface="Segoe UI"/>
              </a:rPr>
              <a:t>49.032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70001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Segoe UI"/>
              </a:rPr>
              <a:t>1.440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50017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F2F7FF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0017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B7185"/>
                </a:solidFill>
                <a:latin typeface="Segoe UI"/>
              </a:rPr>
              <a:t>490.320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017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Segoe UI"/>
              </a:rPr>
              <a:t>14.400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530352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F2F7FF"/>
                </a:solidFill>
                <a:latin typeface="Segoe UI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3035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B7185"/>
                </a:solidFill>
                <a:latin typeface="Segoe UI"/>
              </a:rPr>
              <a:t>4.903.200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53035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Segoe UI"/>
              </a:rPr>
              <a:t>144.000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560527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F2F7FF"/>
                </a:solidFill>
                <a:latin typeface="Segoe UI"/>
              </a:rP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60527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B7185"/>
                </a:solidFill>
                <a:latin typeface="Segoe UI"/>
              </a:rPr>
              <a:t>49.032.000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560527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Segoe UI"/>
              </a:rPr>
              <a:t>1.440.000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4041648"/>
            <a:ext cx="4078224" cy="1956816"/>
          </a:xfrm>
          <a:prstGeom prst="roundRect">
            <a:avLst>
              <a:gd name="adj" fmla="val 7000"/>
            </a:avLst>
          </a:prstGeom>
          <a:solidFill>
            <a:srgbClr val="0A1524"/>
          </a:solidFill>
          <a:ln w="12700">
            <a:solidFill>
              <a:srgbClr val="2C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71816" y="4169663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10">
                <a:solidFill>
                  <a:srgbClr val="22D3EE"/>
                </a:solidFill>
                <a:latin typeface="Segoe UI"/>
              </a:rPr>
              <a:t>TECHO DE LA CAPA GRATUITA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6" y="440740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FB7185"/>
                </a:solidFill>
                <a:latin typeface="Bahnschrift"/>
              </a:rPr>
              <a:t>0,4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5171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0" i="0">
                <a:solidFill>
                  <a:srgbClr val="9CAECB"/>
                </a:solidFill>
                <a:latin typeface="Segoe UI"/>
              </a:rPr>
              <a:t>dispositivos con el diseño 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71816" y="480974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  <a:latin typeface="Bahnschrift"/>
              </a:rPr>
              <a:t>13,9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9194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0" i="0">
                <a:solidFill>
                  <a:srgbClr val="9CAECB"/>
                </a:solidFill>
                <a:latin typeface="Segoe UI"/>
              </a:rPr>
              <a:t>con el diseño propuesto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1816" y="5321808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6C7F9D"/>
                </a:solidFill>
                <a:latin typeface="Segoe UI"/>
              </a:rPr>
              <a:t>A 100 dispositivos el diseño propuesto ya usa 7,2× el límite diario de escrituras. Luego presionan las invocaciones de Vercel.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COSTOS DE MIGRACIÓN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PaaS vs IaaS: menos administración, costo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Referencias mensuales sin impuestos ni pruebas de carga: no definen por sí solas la opción más barata.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13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349240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47088"/>
            <a:ext cx="5312664" cy="31089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75104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60A5FA"/>
                </a:solidFill>
                <a:latin typeface="Segoe UI"/>
              </a:rPr>
              <a:t>PAAS  ·  VERCEL PRO +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3113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6C7F9D"/>
                </a:solidFill>
                <a:latin typeface="Segoe UI"/>
              </a:rPr>
              <a:t>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5798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i="0">
                <a:solidFill>
                  <a:srgbClr val="F2F7FF"/>
                </a:solidFill>
                <a:latin typeface="Bahnschrift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3172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9CAECB"/>
                </a:solidFill>
                <a:latin typeface="Segoe UI"/>
              </a:rPr>
              <a:t>/ mes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76148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6C7F9D"/>
                </a:solidFill>
                <a:latin typeface="Segoe UI"/>
              </a:rPr>
              <a:t>Vercel Pro, con crédito de uso incluido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054096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9CAECB"/>
                </a:solidFill>
                <a:latin typeface="Segoe UI"/>
              </a:rPr>
              <a:t>El consumo de Firestore y los cargos variables de Vercel quedan sin cuantificar: dependen del tráfico real.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76732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>
                <a:solidFill>
                  <a:srgbClr val="60A5FA"/>
                </a:solidFill>
                <a:latin typeface="Segoe UI"/>
              </a:rPr>
              <a:t>1 y 100 dispositivos: misma base + variable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828800"/>
            <a:ext cx="5349240" cy="2331720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1" y="1847088"/>
            <a:ext cx="5312664" cy="3108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75104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A78BFA"/>
                </a:solidFill>
                <a:latin typeface="Segoe UI"/>
              </a:rPr>
              <a:t>IAAS  ·  AMAZON EC2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57984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Bahnschrift"/>
              </a:rPr>
              <a:t>USD 21,31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3172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/ mes  ·  1 disp.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2491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6C7F9D"/>
                </a:solidFill>
                <a:latin typeface="Segoe UI"/>
              </a:rPr>
              <a:t>t3.small + 30 GB EBS + IPv4 pública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3017520"/>
            <a:ext cx="4846320" cy="0"/>
          </a:xfrm>
          <a:prstGeom prst="line">
            <a:avLst/>
          </a:prstGeom>
          <a:ln w="9525">
            <a:solidFill>
              <a:srgbClr val="223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31089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Bahnschrift"/>
              </a:rPr>
              <a:t>USD 72,68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2735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/ mes  ·  100 disp.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3931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6C7F9D"/>
                </a:solidFill>
                <a:latin typeface="Segoe UI"/>
              </a:rPr>
              <a:t>2 × t3.medium + 100 GB EBS + IPv4 pública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4334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 i="0" spc="110">
                <a:solidFill>
                  <a:srgbClr val="6C7F9D"/>
                </a:solidFill>
                <a:latin typeface="Segoe UI"/>
              </a:rPr>
              <a:t>RESPONSABILIDAD OPERATIVA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45902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DIMENSIÓN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59028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PAAS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59028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 i="0" spc="100">
                <a:solidFill>
                  <a:srgbClr val="6C7F9D"/>
                </a:solidFill>
                <a:latin typeface="Segoe UI"/>
              </a:rPr>
              <a:t>IAAS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6656" y="4837176"/>
            <a:ext cx="10799064" cy="0"/>
          </a:xfrm>
          <a:prstGeom prst="line">
            <a:avLst/>
          </a:prstGeom>
          <a:ln w="7620">
            <a:solidFill>
              <a:srgbClr val="17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6656" y="490118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9CAECB"/>
                </a:solidFill>
                <a:latin typeface="Segoe UI"/>
              </a:rPr>
              <a:t>Parches y escalado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901184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60A5FA"/>
                </a:solidFill>
                <a:latin typeface="Segoe UI"/>
              </a:rPr>
              <a:t>Proveedor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4901184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A78BFA"/>
                </a:solidFill>
                <a:latin typeface="Segoe UI"/>
              </a:rPr>
              <a:t>Equipo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6656" y="5148072"/>
            <a:ext cx="10799064" cy="0"/>
          </a:xfrm>
          <a:prstGeom prst="line">
            <a:avLst/>
          </a:prstGeom>
          <a:ln w="7620">
            <a:solidFill>
              <a:srgbClr val="17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656" y="52120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9CAECB"/>
                </a:solidFill>
                <a:latin typeface="Segoe UI"/>
              </a:rPr>
              <a:t>Respaldos y seguridad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2120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60A5FA"/>
                </a:solidFill>
                <a:latin typeface="Segoe UI"/>
              </a:rPr>
              <a:t>Compartida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2120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A78BFA"/>
                </a:solidFill>
                <a:latin typeface="Segoe UI"/>
              </a:rPr>
              <a:t>Equipo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6656" y="5458968"/>
            <a:ext cx="10799064" cy="0"/>
          </a:xfrm>
          <a:prstGeom prst="line">
            <a:avLst/>
          </a:prstGeom>
          <a:ln w="7620">
            <a:solidFill>
              <a:srgbClr val="17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6656" y="552297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9CAECB"/>
                </a:solidFill>
                <a:latin typeface="Segoe UI"/>
              </a:rPr>
              <a:t>Control de la plataforma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5229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60A5FA"/>
                </a:solidFill>
                <a:latin typeface="Segoe UI"/>
              </a:rPr>
              <a:t>Limitado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55229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A78BFA"/>
                </a:solidFill>
                <a:latin typeface="Segoe UI"/>
              </a:rPr>
              <a:t>Total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6656" y="5769864"/>
            <a:ext cx="10799064" cy="0"/>
          </a:xfrm>
          <a:prstGeom prst="line">
            <a:avLst/>
          </a:prstGeom>
          <a:ln w="7620">
            <a:solidFill>
              <a:srgbClr val="17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6656" y="583387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9CAECB"/>
                </a:solidFill>
                <a:latin typeface="Segoe UI"/>
              </a:rPr>
              <a:t>Esfuerzo operativo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60A5FA"/>
                </a:solidFill>
                <a:latin typeface="Segoe UI"/>
              </a:rPr>
              <a:t>Bajo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583387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40" b="0" i="0">
                <a:solidFill>
                  <a:srgbClr val="A78BFA"/>
                </a:solidFill>
                <a:latin typeface="Segoe UI"/>
              </a:rPr>
              <a:t>Alto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6181344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6C7F9D"/>
                </a:solidFill>
                <a:latin typeface="Segoe UI"/>
              </a:rPr>
              <a:t>No incluyen transferencia, respaldos, administración ni cargos extra. Los subtotales no permiten concluir cuál alternativa es más económica.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62356"/>
            <a:ext cx="274320" cy="292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480060"/>
            <a:ext cx="8686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1" i="0" spc="170">
                <a:solidFill>
                  <a:srgbClr val="22D3EE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996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2F7FF"/>
                </a:solidFill>
                <a:latin typeface="Bahnschrift"/>
              </a:rPr>
              <a:t>La cadena funciona; el próximo límite es de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442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9CAECB"/>
                </a:solidFill>
                <a:latin typeface="Segoe UI"/>
              </a:rPr>
              <a:t>Tres conclusiones y el plan de demostración.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83096"/>
            <a:ext cx="10872216" cy="0"/>
          </a:xfrm>
          <a:prstGeom prst="line">
            <a:avLst/>
          </a:prstGeom>
          <a:ln w="9525">
            <a:solidFill>
              <a:srgbClr val="1B2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4710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80">
                <a:solidFill>
                  <a:srgbClr val="6C7F9D"/>
                </a:solidFill>
                <a:latin typeface="Segoe UI"/>
              </a:rPr>
              <a:t>PARKING SMART  ·  INFRAESTRUCTURA TI  ·  SOLEMNE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4710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 spc="80">
                <a:solidFill>
                  <a:srgbClr val="6C7F9D"/>
                </a:solidFill>
                <a:latin typeface="Segoe UI"/>
              </a:rPr>
              <a:t>14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6858000" cy="9692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47088"/>
            <a:ext cx="6821424" cy="31089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96596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Integración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249424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90" b="0" i="0">
                <a:solidFill>
                  <a:srgbClr val="9CAECB"/>
                </a:solidFill>
                <a:latin typeface="Segoe UI"/>
              </a:rPr>
              <a:t>PIR → MQTT → SQLite → Firestore → dashboard, con datos físicos y simulados separados.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6858000" cy="9692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944368"/>
            <a:ext cx="6821424" cy="3108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108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06324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La demo cabe; 24/7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346704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90" b="0" i="0">
                <a:solidFill>
                  <a:srgbClr val="9CAECB"/>
                </a:solidFill>
                <a:latin typeface="Segoe UI"/>
              </a:rPr>
              <a:t>4.178 escrituras/día caben; 49.032 superan 2,4× el límite y las lecturas rozaron el 100 %.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23360"/>
            <a:ext cx="6858000" cy="969264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" y="4041648"/>
            <a:ext cx="6821424" cy="3108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206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16052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F2F7FF"/>
                </a:solidFill>
                <a:latin typeface="Segoe UI"/>
              </a:rPr>
              <a:t>Siguiente iteración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4443984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90" b="0" i="0">
                <a:solidFill>
                  <a:srgbClr val="9CAECB"/>
                </a:solidFill>
                <a:latin typeface="Segoe UI"/>
              </a:rPr>
              <a:t>Segundo sensor, 7 días de medición y resumen por minuto (−97 % teórico).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528523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2F7FF"/>
                </a:solidFill>
                <a:latin typeface="Bahnschrift"/>
              </a:rPr>
              <a:t>Gracias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833872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9CAECB"/>
                </a:solidFill>
                <a:latin typeface="Segoe UI"/>
              </a:rPr>
              <a:t>Luis Bahamonde  ·  Jorge Castillo  ·  Anaís Tuteleers  ·  Christopher Torrejón  ·  Maira Brante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608990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6C7F9D"/>
                </a:solidFill>
                <a:latin typeface="Segoe UI"/>
              </a:rPr>
              <a:t>Infraestructura TI  ·  NRC 8571  ·  Prof. Luis Delgado Ayala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828800"/>
            <a:ext cx="3712463" cy="2212848"/>
          </a:xfrm>
          <a:prstGeom prst="roundRect">
            <a:avLst>
              <a:gd name="adj" fmla="val 7000"/>
            </a:avLst>
          </a:prstGeom>
          <a:solidFill>
            <a:srgbClr val="0E1728"/>
          </a:solidFill>
          <a:ln w="12700">
            <a:solidFill>
              <a:srgbClr val="223350"/>
            </a:solidFill>
          </a:ln>
          <a:effectLst>
            <a:outerShdw blurRad="228600" dist="50800" dir="5400000" algn="ctr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7575" y="195681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1" i="0" spc="110">
                <a:solidFill>
                  <a:srgbClr val="34D399"/>
                </a:solidFill>
                <a:latin typeface="Segoe UI"/>
              </a:rPr>
              <a:t>DEMO EN VIVO  ·  3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2249424"/>
            <a:ext cx="3246120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Dashboard público en Vercel</a:t>
            </a:r>
          </a:p>
          <a:p>
            <a:pPr algn="l" marL="182880" indent="-182880">
              <a:lnSpc>
                <a:spcPct val="10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Movimiento real frente al PIR</a:t>
            </a:r>
          </a:p>
          <a:p>
            <a:pPr algn="l" marL="182880" indent="-182880">
              <a:lnSpc>
                <a:spcPct val="10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docker compose ps en la Raspberry</a:t>
            </a:r>
          </a:p>
          <a:p>
            <a:pPr algn="l" marL="182880" indent="-182880">
              <a:lnSpc>
                <a:spcPct val="10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/parking/sync-status en vivo</a:t>
            </a:r>
          </a:p>
          <a:p>
            <a:pPr algn="l" marL="182880" indent="-182880">
              <a:lnSpc>
                <a:spcPct val="102000"/>
              </a:lnSpc>
              <a:spcAft>
                <a:spcPts val="500"/>
              </a:spcAft>
              <a:buClr>
                <a:srgbClr val="34D399"/>
              </a:buClr>
              <a:buSzPct val="100000"/>
              <a:buFont typeface="Arial"/>
              <a:buChar char="•"/>
            </a:pPr>
            <a:r>
              <a:rPr sz="919" b="0" i="0">
                <a:solidFill>
                  <a:srgbClr val="9CAECB"/>
                </a:solidFill>
                <a:latin typeface="Segoe UI"/>
              </a:rPr>
              <a:t>Video de respaldo listo</a:t>
            </a:r>
          </a:p>
        </p:txBody>
      </p:sp>
      <p:pic>
        <p:nvPicPr>
          <p:cNvPr id="31" name="Picture 30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4224528"/>
            <a:ext cx="1572768" cy="1735468"/>
          </a:xfrm>
          <a:prstGeom prst="rect">
            <a:avLst/>
          </a:prstGeom>
        </p:spPr>
      </p:pic>
      <p:pic>
        <p:nvPicPr>
          <p:cNvPr id="32" name="Picture 31" descr="qr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4224528"/>
            <a:ext cx="1572768" cy="17354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45552" y="60533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 i="0">
                <a:solidFill>
                  <a:srgbClr val="6C7F9D"/>
                </a:solidFill>
                <a:latin typeface="Segoe UI"/>
              </a:rPr>
              <a:t>Repositorio  ·  Dashboard público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